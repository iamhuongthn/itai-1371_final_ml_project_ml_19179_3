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5" r:id="rId3"/>
    <p:sldId id="276" r:id="rId4"/>
    <p:sldId id="278" r:id="rId5"/>
    <p:sldId id="277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82" d="100"/>
          <a:sy n="82" d="100"/>
        </p:scale>
        <p:origin x="96" y="61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5/5/2026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5/5/2026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7492" y="2667000"/>
            <a:ext cx="10058400" cy="1711037"/>
          </a:xfrm>
        </p:spPr>
        <p:txBody>
          <a:bodyPr/>
          <a:lstStyle/>
          <a:p>
            <a:r>
              <a:rPr lang="en-US" dirty="0"/>
              <a:t>Final ML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6108" y="4378037"/>
            <a:ext cx="10515600" cy="114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/>
              <a:t>S</a:t>
            </a:r>
            <a:r>
              <a:rPr lang="en-US" dirty="0"/>
              <a:t>tudent Name: Huong </a:t>
            </a:r>
            <a:r>
              <a:rPr lang="en-US" dirty="0" err="1"/>
              <a:t>Thi</a:t>
            </a:r>
            <a:r>
              <a:rPr lang="en-US" dirty="0"/>
              <a:t> Hue Nguyen</a:t>
            </a:r>
          </a:p>
          <a:p>
            <a:pPr>
              <a:lnSpc>
                <a:spcPct val="170000"/>
              </a:lnSpc>
            </a:pPr>
            <a:r>
              <a:rPr lang="en-US" dirty="0"/>
              <a:t>Class: ITAI-1371-Intro to Machine Learning-RT-19179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4400" y="58615"/>
            <a:ext cx="11049000" cy="779585"/>
          </a:xfrm>
        </p:spPr>
        <p:txBody>
          <a:bodyPr>
            <a:normAutofit/>
          </a:bodyPr>
          <a:lstStyle/>
          <a:p>
            <a:r>
              <a:rPr lang="en-US" sz="3600" dirty="0"/>
              <a:t>ML Project: Predicting Employee Job Change</a:t>
            </a:r>
            <a:endParaRPr sz="3600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37846" y="990600"/>
            <a:ext cx="106680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/>
              <a:t>Problem Type:</a:t>
            </a:r>
            <a:r>
              <a:rPr lang="en-US" sz="2800" dirty="0"/>
              <a:t> Classification </a:t>
            </a:r>
          </a:p>
          <a:p>
            <a:r>
              <a:rPr lang="en-US" sz="2800" b="1" dirty="0"/>
              <a:t>Objective:</a:t>
            </a:r>
            <a:r>
              <a:rPr lang="en-US" sz="2800" dirty="0"/>
              <a:t> Predict whether an employee will change jobs </a:t>
            </a:r>
          </a:p>
          <a:p>
            <a:r>
              <a:rPr lang="en-US" sz="2800" b="1" dirty="0"/>
              <a:t>Dataset:</a:t>
            </a:r>
            <a:r>
              <a:rPr lang="en-US" sz="2800" dirty="0"/>
              <a:t> HR Analytics Dataset (aug_train.csv) </a:t>
            </a:r>
          </a:p>
          <a:p>
            <a:r>
              <a:rPr lang="en-US" sz="2800" b="1" dirty="0"/>
              <a:t>Target Variable:</a:t>
            </a:r>
            <a:r>
              <a:rPr lang="en-US" sz="2800" dirty="0"/>
              <a:t> target (0 = stay, 1 = leave) </a:t>
            </a:r>
          </a:p>
          <a:p>
            <a:r>
              <a:rPr lang="en-US" sz="2800" b="1" dirty="0"/>
              <a:t>Business Value:</a:t>
            </a:r>
            <a:endParaRPr lang="en-US" sz="2800" dirty="0"/>
          </a:p>
          <a:p>
            <a:pPr lvl="1"/>
            <a:r>
              <a:rPr lang="en-US" sz="2600" dirty="0"/>
              <a:t>Identify at-risk employees early </a:t>
            </a:r>
          </a:p>
          <a:p>
            <a:pPr lvl="1"/>
            <a:r>
              <a:rPr lang="en-US" sz="2600" dirty="0"/>
              <a:t>Improve retention strategies </a:t>
            </a:r>
          </a:p>
          <a:p>
            <a:pPr lvl="1"/>
            <a:r>
              <a:rPr lang="en-US" sz="2600" dirty="0"/>
              <a:t>Support HR decision-making</a:t>
            </a:r>
          </a:p>
          <a:p>
            <a:r>
              <a:rPr lang="en-US" sz="2800" b="1" dirty="0"/>
              <a:t>Approach: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Data preprocessing and feature encoding </a:t>
            </a:r>
          </a:p>
          <a:p>
            <a:pPr lvl="1"/>
            <a:r>
              <a:rPr lang="en-US" sz="2600" dirty="0"/>
              <a:t>Train multiple ML models </a:t>
            </a:r>
          </a:p>
          <a:p>
            <a:pPr lvl="1"/>
            <a:r>
              <a:rPr lang="en-US" sz="2600" dirty="0"/>
              <a:t>Compare using validation and test metrics </a:t>
            </a:r>
          </a:p>
          <a:p>
            <a:pPr lvl="1"/>
            <a:r>
              <a:rPr lang="en-US" sz="2600" dirty="0"/>
              <a:t>Apply ensemble methods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AEB4-C8CC-AC94-BEF6-17F0EFB4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0DF7A2-F884-D94E-3A9F-63BC57B9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862"/>
            <a:ext cx="9144000" cy="773723"/>
          </a:xfrm>
        </p:spPr>
        <p:txBody>
          <a:bodyPr>
            <a:normAutofit/>
          </a:bodyPr>
          <a:lstStyle/>
          <a:p>
            <a:r>
              <a:rPr lang="en-US" sz="3600" dirty="0"/>
              <a:t>Models &amp; Evaluation Strategy</a:t>
            </a:r>
            <a:endParaRPr sz="360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C19AD0E-5464-60A1-8309-ABAF7116E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14400"/>
            <a:ext cx="106680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Data Split: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Train: 70% </a:t>
            </a:r>
          </a:p>
          <a:p>
            <a:pPr lvl="1"/>
            <a:r>
              <a:rPr lang="en-US" sz="2600" dirty="0"/>
              <a:t>Validation: 15% </a:t>
            </a:r>
          </a:p>
          <a:p>
            <a:pPr lvl="1"/>
            <a:r>
              <a:rPr lang="en-US" sz="2600" dirty="0"/>
              <a:t>Test: 15% </a:t>
            </a:r>
          </a:p>
          <a:p>
            <a:r>
              <a:rPr lang="en-US" sz="2800" b="1" dirty="0"/>
              <a:t>Models Trained: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Logistic Regression </a:t>
            </a:r>
          </a:p>
          <a:p>
            <a:pPr lvl="1"/>
            <a:r>
              <a:rPr lang="en-US" sz="2600" dirty="0"/>
              <a:t>Decision Tree </a:t>
            </a:r>
          </a:p>
          <a:p>
            <a:pPr lvl="1"/>
            <a:r>
              <a:rPr lang="en-US" sz="2600" dirty="0"/>
              <a:t>Random Forest </a:t>
            </a:r>
          </a:p>
          <a:p>
            <a:pPr lvl="1"/>
            <a:r>
              <a:rPr lang="en-US" sz="2600" dirty="0"/>
              <a:t>Gradient Boosting </a:t>
            </a:r>
          </a:p>
          <a:p>
            <a:pPr lvl="1"/>
            <a:r>
              <a:rPr lang="en-US" sz="2600" dirty="0"/>
              <a:t>K-Nearest Neighbors </a:t>
            </a:r>
          </a:p>
          <a:p>
            <a:pPr lvl="1"/>
            <a:r>
              <a:rPr lang="en-US" sz="2600" dirty="0"/>
              <a:t>Support Vector Classifier (SVC) </a:t>
            </a:r>
          </a:p>
          <a:p>
            <a:r>
              <a:rPr lang="en-US" sz="2800" b="1" dirty="0"/>
              <a:t>Evaluation Metrics: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Accuracy </a:t>
            </a:r>
          </a:p>
          <a:p>
            <a:pPr lvl="1"/>
            <a:r>
              <a:rPr lang="en-US" sz="2600" dirty="0"/>
              <a:t>Precision, Recall, F1-score </a:t>
            </a:r>
          </a:p>
          <a:p>
            <a:pPr lvl="1"/>
            <a:r>
              <a:rPr lang="en-US" sz="2600" dirty="0"/>
              <a:t>ROC-AUC</a:t>
            </a:r>
          </a:p>
        </p:txBody>
      </p:sp>
    </p:spTree>
    <p:extLst>
      <p:ext uri="{BB962C8B-B14F-4D97-AF65-F5344CB8AC3E}">
        <p14:creationId xmlns:p14="http://schemas.microsoft.com/office/powerpoint/2010/main" val="22891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241F-E167-8966-1675-EE0FFC71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A6F3-F443-6CB8-9D5A-0C7F0383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501"/>
            <a:ext cx="9144000" cy="609600"/>
          </a:xfrm>
        </p:spPr>
        <p:txBody>
          <a:bodyPr>
            <a:normAutofit/>
          </a:bodyPr>
          <a:lstStyle/>
          <a:p>
            <a:r>
              <a:rPr lang="en-US" sz="3600" dirty="0"/>
              <a:t>Model Performance Comparison</a:t>
            </a:r>
            <a:endParaRPr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CF65-ABC0-3C23-6733-9E37B4652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295400"/>
            <a:ext cx="4624754" cy="542509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Best Individual Model:</a:t>
            </a:r>
          </a:p>
          <a:p>
            <a:pPr lvl="1"/>
            <a:r>
              <a:rPr lang="en-US" sz="2200" dirty="0"/>
              <a:t>Gradient Boosting </a:t>
            </a:r>
          </a:p>
          <a:p>
            <a:r>
              <a:rPr lang="en-US" sz="2400" dirty="0"/>
              <a:t>Best Overall ROC-AUC:</a:t>
            </a:r>
          </a:p>
          <a:p>
            <a:pPr lvl="1"/>
            <a:r>
              <a:rPr lang="en-US" sz="2200" dirty="0"/>
              <a:t>Bayesian Ensemble</a:t>
            </a:r>
          </a:p>
          <a:p>
            <a:r>
              <a:rPr lang="en-US" sz="2400" dirty="0"/>
              <a:t>Strong Recall / Practical Model:</a:t>
            </a:r>
          </a:p>
          <a:p>
            <a:pPr lvl="1"/>
            <a:r>
              <a:rPr lang="en-US" sz="2000" dirty="0"/>
              <a:t>Random Forest</a:t>
            </a:r>
            <a:endParaRPr lang="en-US" sz="2000" b="1" dirty="0"/>
          </a:p>
          <a:p>
            <a:r>
              <a:rPr lang="en-US" sz="2400" dirty="0"/>
              <a:t>Key Observations:</a:t>
            </a:r>
          </a:p>
          <a:p>
            <a:pPr lvl="1"/>
            <a:r>
              <a:rPr lang="en-US" sz="2200" dirty="0"/>
              <a:t>Tree-based models outperform linear models</a:t>
            </a:r>
          </a:p>
          <a:p>
            <a:pPr lvl="1"/>
            <a:r>
              <a:rPr lang="en-US" sz="2000" dirty="0"/>
              <a:t>Gradient Boosting captures complex patterns </a:t>
            </a:r>
          </a:p>
          <a:p>
            <a:pPr lvl="1"/>
            <a:r>
              <a:rPr lang="en-US" sz="2000" dirty="0"/>
              <a:t>Accuracy alone is misleading due to imbalance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4B4BC5-CBD5-4FBF-B621-8AEBB8D885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71779094"/>
              </p:ext>
            </p:extLst>
          </p:nvPr>
        </p:nvGraphicFramePr>
        <p:xfrm>
          <a:off x="5486400" y="1295400"/>
          <a:ext cx="5943600" cy="3276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662551208"/>
                    </a:ext>
                  </a:extLst>
                </a:gridCol>
              </a:tblGrid>
              <a:tr h="61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ROC-AUC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0.7358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0.5280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0.6578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0.7776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0.5694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 0.7961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12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 0.7908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 0.5989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0.6955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616"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0.7902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0.4794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0.4218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87004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0.7307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0.4559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0.3939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91459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SVC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0.7460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0.5409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0.6466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086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43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097B-1D9C-31EB-8770-D632802E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2B55B2A-3240-519E-F9F3-CC31A6A1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862"/>
            <a:ext cx="9144000" cy="773723"/>
          </a:xfrm>
        </p:spPr>
        <p:txBody>
          <a:bodyPr>
            <a:normAutofit/>
          </a:bodyPr>
          <a:lstStyle/>
          <a:p>
            <a:r>
              <a:rPr lang="en-US" sz="3600" dirty="0"/>
              <a:t>Ensemble Model &amp; Final Insights</a:t>
            </a:r>
            <a:endParaRPr sz="360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F3A61D7-81C5-9C40-04B8-93D68F661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14400"/>
            <a:ext cx="106680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Ensemble Methods: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Average of Top 3 Models </a:t>
            </a:r>
          </a:p>
          <a:p>
            <a:pPr lvl="1"/>
            <a:r>
              <a:rPr lang="en-US" sz="2600" dirty="0"/>
              <a:t>Bayesian-style weighted ensemble </a:t>
            </a:r>
          </a:p>
          <a:p>
            <a:r>
              <a:rPr lang="en-US" sz="2800" b="1" dirty="0"/>
              <a:t>Results: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Ensemble improved overall stability </a:t>
            </a:r>
          </a:p>
          <a:p>
            <a:pPr lvl="1"/>
            <a:r>
              <a:rPr lang="en-US" sz="2600" dirty="0"/>
              <a:t>Slight increase in ROC-AUC on test set </a:t>
            </a:r>
          </a:p>
          <a:p>
            <a:r>
              <a:rPr lang="en-US" sz="2800" b="1" dirty="0"/>
              <a:t>Key Insights:</a:t>
            </a:r>
            <a:r>
              <a:rPr lang="en-US" sz="2800" dirty="0"/>
              <a:t> </a:t>
            </a:r>
          </a:p>
          <a:p>
            <a:pPr lvl="1"/>
            <a:r>
              <a:rPr lang="en-US" sz="2600" dirty="0"/>
              <a:t>Ensemble models reduce variance </a:t>
            </a:r>
          </a:p>
          <a:p>
            <a:pPr lvl="1"/>
            <a:r>
              <a:rPr lang="en-US" sz="2600" dirty="0"/>
              <a:t>Gradient Boosting is most reliable single model </a:t>
            </a:r>
          </a:p>
          <a:p>
            <a:pPr lvl="1"/>
            <a:r>
              <a:rPr lang="en-US" sz="2600" dirty="0"/>
              <a:t>Multiple metrics are critical for evaluation </a:t>
            </a:r>
          </a:p>
          <a:p>
            <a:r>
              <a:rPr lang="en-US" sz="2800" b="1" dirty="0"/>
              <a:t>Conclusion: </a:t>
            </a:r>
          </a:p>
          <a:p>
            <a:pPr lvl="1"/>
            <a:r>
              <a:rPr lang="en-US" sz="2800" dirty="0"/>
              <a:t>Model comparison matters more than model choice </a:t>
            </a:r>
          </a:p>
          <a:p>
            <a:pPr lvl="1"/>
            <a:r>
              <a:rPr lang="en-US" sz="2800" dirty="0"/>
              <a:t>Ensemble improves real-world reliability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818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E460-3F07-896D-9E3C-9418E5E1F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9DFA330-9096-B510-F8D1-3C8B04A8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2667000"/>
            <a:ext cx="4267200" cy="1143000"/>
          </a:xfrm>
        </p:spPr>
        <p:txBody>
          <a:bodyPr>
            <a:normAutofit/>
          </a:bodyPr>
          <a:lstStyle/>
          <a:p>
            <a:r>
              <a:rPr lang="en-US" sz="5400" dirty="0"/>
              <a:t>Thank you!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47964583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201</TotalTime>
  <Words>289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Candara</vt:lpstr>
      <vt:lpstr>Consolas</vt:lpstr>
      <vt:lpstr>Tech Computer 16x9</vt:lpstr>
      <vt:lpstr>Final ML Project</vt:lpstr>
      <vt:lpstr>ML Project: Predicting Employee Job Change</vt:lpstr>
      <vt:lpstr>Models &amp; Evaluation Strategy</vt:lpstr>
      <vt:lpstr>Model Performance Comparison</vt:lpstr>
      <vt:lpstr>Ensemble Model &amp; Final Insights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Huong Nguyen</dc:creator>
  <cp:lastModifiedBy>Huong Nguyen</cp:lastModifiedBy>
  <cp:revision>9</cp:revision>
  <dcterms:created xsi:type="dcterms:W3CDTF">2026-05-05T17:31:10Z</dcterms:created>
  <dcterms:modified xsi:type="dcterms:W3CDTF">2026-05-05T20:52:12Z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